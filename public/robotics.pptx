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70"/>
    <p:restoredTop sz="94610"/>
  </p:normalViewPr>
  <p:slideViewPr>
    <p:cSldViewPr snapToGrid="0" snapToObjects="1">
      <p:cViewPr>
        <p:scale>
          <a:sx n="146" d="100"/>
          <a:sy n="146" d="100"/>
        </p:scale>
        <p:origin x="50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3648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слайд. Четыре проекта интеллектуальной робототехники: промышленный манипулятор, дельта-робот-сортировщик, мобильный сервисный робот и электрический беспилотный шаттл.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РОБОТИЗИРОВАННАЯ РУКА. Манипулятор с 4 степенями свободы и параллельным механизмом тяг. Применение: Сборочные линии: установка компонентов и сборка узлов электроники; Обслуживание станков — загрузка и выгрузка заготовок в цикле; Сварка, пайка, нанесение клея и герметика по траектории; Лабораторная автоматизация: перенос пробирок, рутинные операции; Учебные лаборатории, мехатроника, соревнования по робототехнике.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ДЕЛЬТА-РОБОТ СОРТИРОВЩИК. Параллельный робот, рабочая зона Ø600 × 250 мм, шаговые приводы. Применение: Пищевые производства: раскладка конфет и печенья по лоткам; Фармацевтика — сортировка блистеров, ампул и упаковок; Отбор деталей с конвейера в связке с техническим зрением; Фасовка мелких изделий, комплектация наборов, упаковка; Сортировка вторсырья по типу материала на потоке отходов.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МОБИЛЬНЫЙ РОБОТ. Сервисная платформа: Arduino Nano, ультразвуковой датчик, 3D-печать. Применение: Навигация и сервис для посетителей: ТЦ, музеи, аэропорты; Внутренняя логистика — доставка документов и лёгких грузов; Обход помещений: контроль обстановки и объезд препятствий; Образование и STEM: сенсорика, приводы, алгоритмы движения; Выставки и промо-мероприятия как интерактивный экспонат.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ЭЛЕКТРИЧЕСКИЙ БЕСПИЛОТНЫЙ ШАТТЛ. Пассажирская платформа на мотор-колёсах BLDC с тяговой Li-ion батареей. Применение: Перевозка людей по кампусам, технопаркам и бизнес-центрам; Транспорт «последней мили» в жилых и курортных зонах; Закрытые территории заводов, портов, логистических центров; Экскурсионные маршруты в парках и на выставочных площадках; Испытательная платформа для алгоритмов автономного вождения.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20746-40B5-93F3-B1C7-B2F6FEF0B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D6EDF-C9F4-08B1-8FB9-C5CAB602ED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E0BFD0-1EE3-DF8B-EE0A-AC4497F2B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SEASONS: ЭЛЕКТРОННОЕ ГОЛОСОВАНИЕ. Тайные электронные голосования и заседания советов и комиссий. Применение: Учёные, диссертационные и квалификационные советы — голосование по учёным степеням; Советы директоров и корпоративное управление — голосование акционеров; Комиссии, президиумы и коллегиальные органы принятия решений; Любые заседания с регистрацией участников и подсчётом кворума; Продукт и демо-доступ: seasons.rudn.ru.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6D558-74ED-D0DC-A32D-458DD2B414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68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FDC17-14FE-6686-81B7-EFC697804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FDF1C-568D-2E4B-6E38-5DB795468F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8097A-EA6D-C421-56B1-193384A40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SEASONS: ЭЛЕКТРОННОЕ ГОЛОСОВАНИЕ. Тайные электронные голосования и заседания советов и комиссий. Применение: Учёные, диссертационные и квалификационные советы — голосование по учёным степеням; Советы директоров и корпоративное управление — голосование акционеров; Комиссии, президиумы и коллегиальные органы принятия решений; Любые заседания с регистрацией участников и подсчётом кворума; Продукт и демо-доступ: seasons.rudn.ru.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B22E95-4884-EFE4-A0DE-53FCAFF7B6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979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jp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6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6958"/>
            <a:ext cx="10725912" cy="980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Н Ж Е Н Е Р </a:t>
            </a:r>
            <a:r>
              <a:rPr lang="en-US" sz="1250" b="1" kern="0" spc="200" dirty="0" err="1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</a:t>
            </a:r>
            <a:r>
              <a:rPr lang="en-US" sz="125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25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Я   А К А Д Е М И Я</a:t>
            </a:r>
          </a:p>
          <a:p>
            <a:pPr marL="0" indent="0" algn="ctr">
              <a:buNone/>
            </a:pPr>
            <a:endParaRPr lang="ru-RU" sz="1250" b="1" kern="0" spc="200" dirty="0">
              <a:solidFill>
                <a:srgbClr val="F5A623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ru-RU" sz="1250" b="1" kern="0" spc="200" dirty="0">
                <a:solidFill>
                  <a:srgbClr val="F5A623"/>
                </a:solidFill>
                <a:latin typeface="Arial" pitchFamily="34" charset="0"/>
                <a:cs typeface="Arial" pitchFamily="34" charset="-120"/>
              </a:rPr>
              <a:t>К А Ф Е Д Р А</a:t>
            </a:r>
            <a:r>
              <a:rPr lang="en-US" sz="1250" b="1" kern="0" spc="200" dirty="0">
                <a:solidFill>
                  <a:srgbClr val="F5A623"/>
                </a:solidFill>
                <a:latin typeface="Arial" pitchFamily="34" charset="0"/>
                <a:cs typeface="Arial" pitchFamily="34" charset="-120"/>
              </a:rPr>
              <a:t>  </a:t>
            </a:r>
            <a:r>
              <a:rPr lang="ru-RU" sz="1250" b="1" kern="0" spc="200" dirty="0">
                <a:solidFill>
                  <a:srgbClr val="F5A623"/>
                </a:solidFill>
                <a:latin typeface="Arial" pitchFamily="34" charset="0"/>
                <a:cs typeface="Arial" pitchFamily="34" charset="-120"/>
              </a:rPr>
              <a:t> М Е Х А Н И К И   И   П Р О Ц Е С С О В   У П Р А В Л Е Н И Я</a:t>
            </a:r>
          </a:p>
          <a:p>
            <a:pPr marL="0" indent="0" algn="ctr">
              <a:buNone/>
            </a:pPr>
            <a:endParaRPr lang="ru-RU" sz="1250" b="1" kern="0" spc="200" dirty="0">
              <a:solidFill>
                <a:srgbClr val="F5A623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r>
              <a:rPr lang="ru-RU" sz="1250" b="1" kern="0" spc="200" dirty="0">
                <a:solidFill>
                  <a:srgbClr val="F5A623"/>
                </a:solidFill>
                <a:latin typeface="Arial" pitchFamily="34" charset="0"/>
                <a:cs typeface="Arial" pitchFamily="34" charset="-120"/>
              </a:rPr>
              <a:t>Н А У Ч Н Ы Й   Ц Е Н Т Р   Н Е Й Р О Т Е Х Н О Л О Г И Й   И   П Р О Ц Е С С О В   У П Р А В Л Е Н И Я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440714"/>
            <a:ext cx="10725912" cy="1600200"/>
          </a:xfrm>
          <a:prstGeom prst="rect">
            <a:avLst/>
          </a:prstGeom>
          <a:noFill/>
          <a:ln/>
          <a:effectLst>
            <a:outerShdw blurRad="304800" dist="50800" dir="5400000" algn="bl" rotWithShape="0">
              <a:srgbClr val="5A3A08">
                <a:alpha val="9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</a:t>
            </a:r>
            <a:endParaRPr lang="en-US" sz="4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4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РОБОТОТЕХНИКА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78182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Манипулятор  ·  Дельта-робот  ·  Мобильный робот  ·  Беспилотный шаттл  ·  </a:t>
            </a:r>
            <a:r>
              <a:rPr lang="ru-RU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Вэб-платформы</a:t>
            </a:r>
            <a:endParaRPr lang="en-US" dirty="0"/>
          </a:p>
        </p:txBody>
      </p:sp>
      <p:pic>
        <p:nvPicPr>
          <p:cNvPr id="5" name="Image 0" descr="/home/claude/work/ph_arm_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908534"/>
            <a:ext cx="2148840" cy="2148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605737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РОБОТИЗИРОВАННАЯ РУКА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3566160" y="605737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ДЕЛЬТА-РОБОТ</a:t>
            </a:r>
            <a:endParaRPr lang="en-US" sz="1100" dirty="0"/>
          </a:p>
        </p:txBody>
      </p:sp>
      <p:pic>
        <p:nvPicPr>
          <p:cNvPr id="11" name="Image 2" descr="/home/claude/work/ph_mobile_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110" y="3908534"/>
            <a:ext cx="1610499" cy="21488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263640" y="605737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МОБИЛЬНЫЙ РОБОТ</a:t>
            </a:r>
            <a:endParaRPr lang="en-US" sz="1100" dirty="0"/>
          </a:p>
        </p:txBody>
      </p:sp>
      <p:pic>
        <p:nvPicPr>
          <p:cNvPr id="14" name="Image 3" descr="/home/claude/work/ph_shuttle_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0" y="3959019"/>
            <a:ext cx="2468880" cy="204787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605737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БЕСПИЛОТНЫЙ ШАТТЛ</a:t>
            </a:r>
            <a:endParaRPr lang="en-US" sz="11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5A672C2-F97E-6439-ED05-2222B0BA66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5330" y="3959019"/>
            <a:ext cx="1909642" cy="2041994"/>
          </a:xfrm>
          <a:prstGeom prst="rect">
            <a:avLst/>
          </a:prstGeom>
          <a:effectLst>
            <a:softEdge rad="68035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h_arm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640080"/>
            <a:ext cx="5669280" cy="5669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5" y="256032"/>
            <a:ext cx="503187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</a:t>
            </a:r>
            <a:r>
              <a:rPr lang="en-US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231948"/>
            <a:ext cx="5715000" cy="969264"/>
          </a:xfrm>
          <a:prstGeom prst="rect">
            <a:avLst/>
          </a:prstGeom>
          <a:noFill/>
          <a:ln/>
          <a:effectLst>
            <a:outerShdw blurRad="254000" dist="50800" dir="5400000" algn="bl" rotWithShape="0">
              <a:srgbClr val="5A3A08">
                <a:alpha val="85000"/>
              </a:srgbClr>
            </a:outerShdw>
          </a:effectLst>
        </p:spPr>
        <p:txBody>
          <a:bodyPr wrap="square" lIns="0" tIns="0" rIns="0" bIns="0" rtlCol="0" anchor="b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РОБОТИЗИРОВАННАЯ РУКА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23778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Манипулятор с 4 степенями свободы и параллельным механизмом тяг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2877868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822960" y="29510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кг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31678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15768" y="2877868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2761488" y="29510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мм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761488" y="331678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радиус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2877868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4700016" y="295102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±0,1 мм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700016" y="331678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194604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СФЕРЫ</a:t>
            </a:r>
            <a:r>
              <a:rPr lang="en-US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ПРИМЕН</a:t>
            </a:r>
            <a:r>
              <a:rPr lang="ru-RU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ЕНИЯ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542076"/>
            <a:ext cx="6020724" cy="1904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Сборочные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линии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компонентов и сборка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узлов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электроники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станков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выгрузка заготовок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цикле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Сварка, пайка, нанесение клея и герметика по траектории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перенос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пробирок,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рутинные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операции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др.)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751576" y="256032"/>
            <a:ext cx="51297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</a:t>
            </a:r>
            <a:r>
              <a:rPr lang="en-US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806440" y="1481328"/>
            <a:ext cx="5715000" cy="969264"/>
          </a:xfrm>
          <a:prstGeom prst="rect">
            <a:avLst/>
          </a:prstGeom>
          <a:noFill/>
          <a:ln/>
          <a:effectLst>
            <a:outerShdw blurRad="254000" dist="50800" dir="5400000" algn="bl" rotWithShape="0">
              <a:srgbClr val="5A3A08">
                <a:alpha val="85000"/>
              </a:srgbClr>
            </a:outerShdw>
          </a:effectLst>
        </p:spPr>
        <p:txBody>
          <a:bodyPr wrap="square" lIns="0" tIns="0" rIns="0" bIns="0" rtlCol="0" anchor="b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ДЕЛЬТА-РОБОТ СОРТИРОВЩИК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24871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</a:t>
            </a:r>
            <a:r>
              <a:rPr lang="en-US" sz="135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абочая</a:t>
            </a:r>
            <a:r>
              <a:rPr lang="en-US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зона Ø600 × 250 мм, шаговые приводы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806440" y="3127248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852160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мм/с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356616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44968" y="3127248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7790688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±0,1 мм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790688" y="356616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83496" y="3127248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9729216" y="32004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кг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729216" y="3566160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4434194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СФЕРЫ</a:t>
            </a:r>
            <a:r>
              <a:rPr lang="en-US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ПРИМЕН</a:t>
            </a:r>
            <a:r>
              <a:rPr lang="ru-RU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ЕНИЯ: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4781666"/>
            <a:ext cx="618708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Пищевые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производства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раскладка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конфет и печенья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лоткам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Фармацевтика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блистеров, ампул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упаковок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Отбор деталей с конвейера в связке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компьютерным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зрением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Фасовка мелких изделий, комплектация наборов, упаковка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Сортировка вторсырья по типу материала на потоке отходов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5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ED60765-7358-760B-61BB-DEFC334C3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660" y="706090"/>
            <a:ext cx="5024440" cy="5372667"/>
          </a:xfrm>
          <a:prstGeom prst="rect">
            <a:avLst/>
          </a:prstGeom>
          <a:effectLst>
            <a:softEdge rad="215828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h_mobile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448" y="457200"/>
            <a:ext cx="4523104" cy="6035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22375" y="256032"/>
            <a:ext cx="520736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</a:t>
            </a:r>
            <a:r>
              <a:rPr lang="en-US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481328"/>
            <a:ext cx="5715000" cy="502920"/>
          </a:xfrm>
          <a:prstGeom prst="rect">
            <a:avLst/>
          </a:prstGeom>
          <a:noFill/>
          <a:ln/>
          <a:effectLst>
            <a:outerShdw blurRad="254000" dist="50800" dir="5400000" algn="bl" rotWithShape="0">
              <a:srgbClr val="5A3A08">
                <a:alpha val="85000"/>
              </a:srgbClr>
            </a:outerShdw>
          </a:effectLst>
        </p:spPr>
        <p:txBody>
          <a:bodyPr wrap="square" lIns="0" tIns="0" rIns="0" bIns="0" rtlCol="0" anchor="b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МОБИЛЬНЫЙ РОБОТ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2117720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Сервисная платформа: Arduino Nano, </a:t>
            </a:r>
            <a:r>
              <a:rPr lang="en-US" sz="135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ультразвуков</a:t>
            </a:r>
            <a:r>
              <a:rPr lang="ru-RU" sz="135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ые</a:t>
            </a:r>
            <a:r>
              <a:rPr lang="en-US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датчик</a:t>
            </a:r>
            <a:r>
              <a:rPr lang="ru-RU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видеокамеры, лидары, голосовое управление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2757800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822960" y="28309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 м/с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9671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15768" y="2757800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2761488" y="28309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часа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2761488" y="319671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автономность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54296" y="2757800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4700016" y="2830952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 кг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700016" y="3196712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993623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СФЕРЫ</a:t>
            </a:r>
            <a:r>
              <a:rPr lang="en-US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ПРИМЕН</a:t>
            </a:r>
            <a:r>
              <a:rPr lang="ru-RU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НЕНИЯ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77239" y="4341094"/>
            <a:ext cx="6676184" cy="2288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 и складирование (автономные роботы для погрузки/разгрузки)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логистика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больших офисах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документов и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лёгких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грузов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Видеонаблюдение и охрана (патрульные роботы с тепловизорами и искусственным интеллектом для охраны периметра)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Сервисные и бытовые роботы (роботы-пылесосы, картографирование территорий и помещений)</a:t>
            </a:r>
          </a:p>
        </p:txBody>
      </p:sp>
      <p:sp>
        <p:nvSpPr>
          <p:cNvPr id="18" name="Text 15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ph_shuttle_b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123461"/>
            <a:ext cx="5669280" cy="4702519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751575" y="256032"/>
            <a:ext cx="535053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</a:t>
            </a:r>
            <a:r>
              <a:rPr lang="en-US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5806440" y="1481328"/>
            <a:ext cx="5715000" cy="969264"/>
          </a:xfrm>
          <a:prstGeom prst="rect">
            <a:avLst/>
          </a:prstGeom>
          <a:noFill/>
          <a:ln/>
          <a:effectLst>
            <a:outerShdw blurRad="254000" dist="50800" dir="5400000" algn="bl" rotWithShape="0">
              <a:srgbClr val="5A3A08">
                <a:alpha val="85000"/>
              </a:srgbClr>
            </a:outerShdw>
          </a:effectLst>
        </p:spPr>
        <p:txBody>
          <a:bodyPr wrap="square" lIns="0" tIns="0" rIns="0" bIns="0" rtlCol="0" anchor="b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ЭЛЕКТРИЧЕСКИЙ БЕСПИЛОТНЫЙ ШАТТЛ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806440" y="24871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ru-RU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на мотор-колёсах с </a:t>
            </a:r>
            <a:r>
              <a:rPr lang="ru-RU" sz="135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бесколлекторными</a:t>
            </a:r>
            <a:r>
              <a:rPr lang="ru-RU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двигателями постоянного тока и тяговыми литий-железо-фосфатными батареями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806440" y="3238084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 txBox="1"/>
          <p:nvPr/>
        </p:nvSpPr>
        <p:spPr>
          <a:xfrm>
            <a:off x="5852160" y="331123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BLDC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367699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бесколлекторные</a:t>
            </a:r>
            <a:r>
              <a:rPr lang="ru-RU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двигатели постоянного тока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44968" y="3238084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 txBox="1"/>
          <p:nvPr/>
        </p:nvSpPr>
        <p:spPr>
          <a:xfrm>
            <a:off x="7790688" y="331123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LiFePO4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78618" y="3676996"/>
            <a:ext cx="155170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литий-железо-фосфатные </a:t>
            </a:r>
            <a:r>
              <a:rPr lang="en-US" sz="1100" dirty="0" err="1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батаре</a:t>
            </a:r>
            <a:r>
              <a:rPr lang="ru-RU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683496" y="3238084"/>
            <a:ext cx="1810512" cy="868680"/>
          </a:xfrm>
          <a:prstGeom prst="roundRect">
            <a:avLst>
              <a:gd name="adj" fmla="val 10526"/>
            </a:avLst>
          </a:prstGeom>
          <a:solidFill>
            <a:srgbClr val="1C1A17">
              <a:alpha val="80000"/>
            </a:srgbClr>
          </a:solidFill>
          <a:ln w="12700">
            <a:solidFill>
              <a:srgbClr val="6E54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 txBox="1"/>
          <p:nvPr/>
        </p:nvSpPr>
        <p:spPr>
          <a:xfrm>
            <a:off x="9729216" y="331123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г/км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9729216" y="3676996"/>
            <a:ext cx="1719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выбросы CO₂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5806440" y="4473907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ПРИМЕНЯЕТСЯ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4821379"/>
            <a:ext cx="6385560" cy="150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Перевозка людей по кампусам, технопаркам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бизнес-центрам</a:t>
            </a:r>
            <a:endParaRPr lang="ru-RU" sz="1600" dirty="0">
              <a:solidFill>
                <a:srgbClr val="E8E4D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«последней мили» в жилых и курортных зонах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Закрытые территории заводов, портов, логистических центров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Экскурсионные маршруты в парках и на выставочных площадках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ru-RU" sz="1600" dirty="0">
                <a:solidFill>
                  <a:srgbClr val="E8E4DD"/>
                </a:solidFill>
                <a:latin typeface="Calibri" pitchFamily="34" charset="0"/>
                <a:cs typeface="Calibri" pitchFamily="34" charset="-120"/>
              </a:rPr>
              <a:t>Перевозка грузов по территории больших промышленных предприятий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80340-713C-DE37-FE38-9737AF1D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 2" descr="assets/phone_voter.png">
            <a:extLst>
              <a:ext uri="{FF2B5EF4-FFF2-40B4-BE49-F238E27FC236}">
                <a16:creationId xmlns:a16="http://schemas.microsoft.com/office/drawing/2014/main" id="{2E4C94FF-B851-79FF-B221-FDD38F8C36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8465" y="3754216"/>
            <a:ext cx="1475101" cy="2887432"/>
          </a:xfrm>
          <a:prstGeom prst="rect">
            <a:avLst/>
          </a:prstGeom>
        </p:spPr>
      </p:pic>
      <p:pic>
        <p:nvPicPr>
          <p:cNvPr id="2" name="Image 0" descr="/home/claude/work/ph_seasons_b.jpg">
            <a:extLst>
              <a:ext uri="{FF2B5EF4-FFF2-40B4-BE49-F238E27FC236}">
                <a16:creationId xmlns:a16="http://schemas.microsoft.com/office/drawing/2014/main" id="{0DA5A37F-B282-3DFC-58B6-0CC6A420C6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5" y="4009631"/>
            <a:ext cx="3101474" cy="2410691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10CC70A-DD6E-F54B-6917-4C4E104A8DA4}"/>
              </a:ext>
            </a:extLst>
          </p:cNvPr>
          <p:cNvSpPr txBox="1"/>
          <p:nvPr/>
        </p:nvSpPr>
        <p:spPr>
          <a:xfrm>
            <a:off x="722375" y="256032"/>
            <a:ext cx="85416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ВЭБ-ПЛАТФОРМЫ</a:t>
            </a:r>
            <a:endParaRPr lang="en-US" sz="6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AEBFE82-22B4-BE29-E58A-E852A4E049E2}"/>
              </a:ext>
            </a:extLst>
          </p:cNvPr>
          <p:cNvSpPr txBox="1"/>
          <p:nvPr/>
        </p:nvSpPr>
        <p:spPr>
          <a:xfrm>
            <a:off x="722375" y="758532"/>
            <a:ext cx="11383034" cy="1408019"/>
          </a:xfrm>
          <a:prstGeom prst="rect">
            <a:avLst/>
          </a:prstGeom>
          <a:noFill/>
          <a:ln/>
          <a:effectLst>
            <a:outerShdw blurRad="254000" dist="50800" dir="5400000" algn="bl" rotWithShape="0">
              <a:srgbClr val="5A3A08">
                <a:alpha val="85000"/>
              </a:srgbClr>
            </a:outerShdw>
          </a:effectLst>
        </p:spPr>
        <p:txBody>
          <a:bodyPr wrap="square" lIns="0" tIns="0" rIns="0" bIns="0" rtlCol="0" anchor="b"/>
          <a:lstStyle/>
          <a:p>
            <a:pPr marL="0" indent="0">
              <a:lnSpc>
                <a:spcPct val="102000"/>
              </a:lnSpc>
              <a:buNone/>
            </a:pPr>
            <a:r>
              <a:rPr lang="ru-RU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АВТОМАТИЗИРОВАННАЯ СИСТЕМА ЭЛЕТРОННЫХ ГОЛОСОВАНИЙ «ВРЕМЕНА ГОДА»</a:t>
            </a:r>
            <a:endParaRPr lang="en-US" sz="28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A690414-FDAF-5161-2AE5-430A0EF97872}"/>
              </a:ext>
            </a:extLst>
          </p:cNvPr>
          <p:cNvSpPr txBox="1"/>
          <p:nvPr/>
        </p:nvSpPr>
        <p:spPr>
          <a:xfrm>
            <a:off x="722375" y="209636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Тайные электронные голосования и заседания советов и комиссий</a:t>
            </a:r>
            <a:endParaRPr lang="en-US" sz="13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7D471C9-28C1-79E6-86B7-6E92B43092A2}"/>
              </a:ext>
            </a:extLst>
          </p:cNvPr>
          <p:cNvSpPr txBox="1"/>
          <p:nvPr/>
        </p:nvSpPr>
        <p:spPr>
          <a:xfrm>
            <a:off x="722375" y="2527370"/>
            <a:ext cx="5715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ПРИМЕНЯЕТСЯ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A29B0C89-AEE7-1423-06A3-E3EE491CFA69}"/>
              </a:ext>
            </a:extLst>
          </p:cNvPr>
          <p:cNvSpPr txBox="1"/>
          <p:nvPr/>
        </p:nvSpPr>
        <p:spPr>
          <a:xfrm>
            <a:off x="722375" y="2874842"/>
            <a:ext cx="11198872" cy="1019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Учёные, диссертационные и квалификационные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образовательных и научных государственных </a:t>
            </a:r>
            <a:r>
              <a:rPr lang="ru-RU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учерждений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Советы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директоров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корпоративное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к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омиссии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президиумы и коллегиальные органы принятия решений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▸"/>
            </a:pP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заседания с регистрацией участников и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подсчётом</a:t>
            </a:r>
            <a:r>
              <a:rPr lang="en-US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кворум</a:t>
            </a:r>
            <a:r>
              <a:rPr lang="ru-RU" sz="1600" dirty="0">
                <a:solidFill>
                  <a:srgbClr val="E8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</a:t>
            </a:r>
            <a:endParaRPr lang="en-US" sz="16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0C65D442-08DC-A036-CBD8-7FBCD7F43060}"/>
              </a:ext>
            </a:extLst>
          </p:cNvPr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50" dirty="0"/>
          </a:p>
        </p:txBody>
      </p:sp>
      <p:pic>
        <p:nvPicPr>
          <p:cNvPr id="21" name="ScreenRecording_08-31-2026 09-34-20_1_36173F2A-4443-46FD-BE1E-DB66431072CA.mp4">
            <a:hlinkClick r:id="" action="ppaction://media"/>
            <a:extLst>
              <a:ext uri="{FF2B5EF4-FFF2-40B4-BE49-F238E27FC236}">
                <a16:creationId xmlns:a16="http://schemas.microsoft.com/office/drawing/2014/main" id="{8A3C6BAD-F900-7AA1-AEF1-2095A76F88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8"/>
          <a:srcRect l="-629" r="-4"/>
          <a:stretch>
            <a:fillRect/>
          </a:stretch>
        </p:blipFill>
        <p:spPr>
          <a:xfrm>
            <a:off x="9068400" y="3887181"/>
            <a:ext cx="1231737" cy="2616873"/>
          </a:xfrm>
          <a:prstGeom prst="roundRect">
            <a:avLst>
              <a:gd name="adj" fmla="val 8306"/>
            </a:avLst>
          </a:prstGeom>
          <a:effectLst>
            <a:softEdge rad="0"/>
          </a:effectLst>
        </p:spPr>
      </p:pic>
      <p:pic>
        <p:nvPicPr>
          <p:cNvPr id="22" name="Image 2" descr="assets/phone_voter.png">
            <a:extLst>
              <a:ext uri="{FF2B5EF4-FFF2-40B4-BE49-F238E27FC236}">
                <a16:creationId xmlns:a16="http://schemas.microsoft.com/office/drawing/2014/main" id="{0189409B-BB69-AFBA-3949-70290BF176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2967" y="3788304"/>
            <a:ext cx="1457687" cy="2853344"/>
          </a:xfrm>
          <a:prstGeom prst="rect">
            <a:avLst/>
          </a:prstGeom>
        </p:spPr>
      </p:pic>
      <p:sp>
        <p:nvSpPr>
          <p:cNvPr id="23" name="Стрелка вправо 22">
            <a:extLst>
              <a:ext uri="{FF2B5EF4-FFF2-40B4-BE49-F238E27FC236}">
                <a16:creationId xmlns:a16="http://schemas.microsoft.com/office/drawing/2014/main" id="{59B55C63-F9A9-647F-7C15-6AE11A962CCC}"/>
              </a:ext>
            </a:extLst>
          </p:cNvPr>
          <p:cNvSpPr/>
          <p:nvPr/>
        </p:nvSpPr>
        <p:spPr>
          <a:xfrm>
            <a:off x="4219310" y="4482619"/>
            <a:ext cx="978195" cy="121211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Стрелка вправо 23">
            <a:extLst>
              <a:ext uri="{FF2B5EF4-FFF2-40B4-BE49-F238E27FC236}">
                <a16:creationId xmlns:a16="http://schemas.microsoft.com/office/drawing/2014/main" id="{828370A6-556B-5828-5462-47EA8C0A8A88}"/>
              </a:ext>
            </a:extLst>
          </p:cNvPr>
          <p:cNvSpPr/>
          <p:nvPr/>
        </p:nvSpPr>
        <p:spPr>
          <a:xfrm>
            <a:off x="7575684" y="4482619"/>
            <a:ext cx="978195" cy="121211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AEE4CA6-2EF5-0406-62F3-A0A20822A6A5}"/>
              </a:ext>
            </a:extLst>
          </p:cNvPr>
          <p:cNvSpPr txBox="1"/>
          <p:nvPr/>
        </p:nvSpPr>
        <p:spPr>
          <a:xfrm>
            <a:off x="58843" y="6252594"/>
            <a:ext cx="442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6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Десктопная версия</a:t>
            </a:r>
            <a:endParaRPr lang="en-US" sz="1600" dirty="0"/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B4BFEC0D-C9AA-6746-2958-D227288CE23F}"/>
              </a:ext>
            </a:extLst>
          </p:cNvPr>
          <p:cNvSpPr txBox="1"/>
          <p:nvPr/>
        </p:nvSpPr>
        <p:spPr>
          <a:xfrm>
            <a:off x="4156026" y="6384051"/>
            <a:ext cx="442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6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версия</a:t>
            </a:r>
            <a:endParaRPr lang="en-US" sz="16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6854D136-B861-9463-78AB-82D24E696A63}"/>
              </a:ext>
            </a:extLst>
          </p:cNvPr>
          <p:cNvSpPr txBox="1"/>
          <p:nvPr/>
        </p:nvSpPr>
        <p:spPr>
          <a:xfrm>
            <a:off x="7492708" y="6384051"/>
            <a:ext cx="442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sz="1600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Мобильная версия в приложении РУДН</a:t>
            </a:r>
            <a:endParaRPr lang="en-US" sz="1600" dirty="0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C47AF190-3CAD-F469-7EC6-031E52E1A620}"/>
              </a:ext>
            </a:extLst>
          </p:cNvPr>
          <p:cNvSpPr>
            <a:spLocks noChangeAspect="1"/>
          </p:cNvSpPr>
          <p:nvPr/>
        </p:nvSpPr>
        <p:spPr>
          <a:xfrm>
            <a:off x="9585458" y="3949533"/>
            <a:ext cx="54000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0534B087-AF80-4979-8155-5E8943A06D26}"/>
              </a:ext>
            </a:extLst>
          </p:cNvPr>
          <p:cNvSpPr>
            <a:spLocks noChangeAspect="1"/>
          </p:cNvSpPr>
          <p:nvPr/>
        </p:nvSpPr>
        <p:spPr>
          <a:xfrm>
            <a:off x="9732393" y="3949533"/>
            <a:ext cx="54000" cy="540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D392AD94-3D10-5858-C6B8-F4B179018C6A}"/>
              </a:ext>
            </a:extLst>
          </p:cNvPr>
          <p:cNvSpPr/>
          <p:nvPr/>
        </p:nvSpPr>
        <p:spPr>
          <a:xfrm>
            <a:off x="9612458" y="3949051"/>
            <a:ext cx="146935" cy="5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710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03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5BE858-B34C-9976-5EE8-DF4586108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5F78739-ECC4-32D5-47E7-C0D0794D0D4B}"/>
              </a:ext>
            </a:extLst>
          </p:cNvPr>
          <p:cNvSpPr txBox="1"/>
          <p:nvPr/>
        </p:nvSpPr>
        <p:spPr>
          <a:xfrm>
            <a:off x="722375" y="256032"/>
            <a:ext cx="854169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6000" b="1" dirty="0">
                <a:solidFill>
                  <a:srgbClr val="332F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ВЭБ-ПЛАТФОРМЫ</a:t>
            </a:r>
            <a:endParaRPr lang="en-US" sz="6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436C651B-AFDC-0EFA-E22F-A8849DF364FE}"/>
              </a:ext>
            </a:extLst>
          </p:cNvPr>
          <p:cNvSpPr txBox="1"/>
          <p:nvPr/>
        </p:nvSpPr>
        <p:spPr>
          <a:xfrm>
            <a:off x="722375" y="1256427"/>
            <a:ext cx="11201400" cy="969264"/>
          </a:xfrm>
          <a:prstGeom prst="rect">
            <a:avLst/>
          </a:prstGeom>
          <a:noFill/>
          <a:ln/>
          <a:effectLst>
            <a:outerShdw blurRad="254000" dist="50800" dir="5400000" algn="bl" rotWithShape="0">
              <a:srgbClr val="5A3A08">
                <a:alpha val="85000"/>
              </a:srgbClr>
            </a:outerShdw>
          </a:effectLst>
        </p:spPr>
        <p:txBody>
          <a:bodyPr wrap="square" lIns="0" tIns="0" rIns="0" bIns="0" rtlCol="0" anchor="b"/>
          <a:lstStyle/>
          <a:p>
            <a:pPr marL="0" indent="0">
              <a:lnSpc>
                <a:spcPct val="102000"/>
              </a:lnSpc>
              <a:buNone/>
            </a:pPr>
            <a:r>
              <a:rPr lang="ru-RU" sz="28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АВТОМАТИЗИРОВАННАЯ СИСТЕМА ЭЛЕТРОННЫХ ГОЛОСОВАНИЙ «ВРЕМЕНА ГОДА»</a:t>
            </a:r>
            <a:endParaRPr lang="en-US" sz="28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2133CAB-2B25-C492-E68E-FB0F2A88710D}"/>
              </a:ext>
            </a:extLst>
          </p:cNvPr>
          <p:cNvSpPr txBox="1"/>
          <p:nvPr/>
        </p:nvSpPr>
        <p:spPr>
          <a:xfrm>
            <a:off x="10881360" y="6355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E6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50" dirty="0"/>
          </a:p>
        </p:txBody>
      </p:sp>
      <p:pic>
        <p:nvPicPr>
          <p:cNvPr id="4" name="Рисунок 3" descr="Изображение выглядит как текст, снимок экрана,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444671-D9F3-B874-0BE8-3027E285F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5" y="2445147"/>
            <a:ext cx="4428538" cy="3795011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9" name="Image 1" descr="assets/new_ui.png">
            <a:extLst>
              <a:ext uri="{FF2B5EF4-FFF2-40B4-BE49-F238E27FC236}">
                <a16:creationId xmlns:a16="http://schemas.microsoft.com/office/drawing/2014/main" id="{1E13C1D4-EDB0-C0D8-A439-559BEA76F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420" y="3023065"/>
            <a:ext cx="5376355" cy="2881833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20" name="Стрелка вправо 19">
            <a:extLst>
              <a:ext uri="{FF2B5EF4-FFF2-40B4-BE49-F238E27FC236}">
                <a16:creationId xmlns:a16="http://schemas.microsoft.com/office/drawing/2014/main" id="{46C09702-8E39-2FF4-623C-0092716CC435}"/>
              </a:ext>
            </a:extLst>
          </p:cNvPr>
          <p:cNvSpPr/>
          <p:nvPr/>
        </p:nvSpPr>
        <p:spPr>
          <a:xfrm>
            <a:off x="5360069" y="3736596"/>
            <a:ext cx="978195" cy="1212111"/>
          </a:xfrm>
          <a:prstGeom prst="right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74F90564-A106-FE6E-9BE8-836E218E6C71}"/>
              </a:ext>
            </a:extLst>
          </p:cNvPr>
          <p:cNvSpPr txBox="1"/>
          <p:nvPr/>
        </p:nvSpPr>
        <p:spPr>
          <a:xfrm>
            <a:off x="722376" y="6237777"/>
            <a:ext cx="442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Текущий интерфейс оператора</a:t>
            </a:r>
            <a:endParaRPr lang="en-US" dirty="0"/>
          </a:p>
        </p:txBody>
      </p:sp>
      <p:sp>
        <p:nvSpPr>
          <p:cNvPr id="22" name="Text 3">
            <a:extLst>
              <a:ext uri="{FF2B5EF4-FFF2-40B4-BE49-F238E27FC236}">
                <a16:creationId xmlns:a16="http://schemas.microsoft.com/office/drawing/2014/main" id="{1D814611-6E16-FC19-3C62-D353E8E2DD71}"/>
              </a:ext>
            </a:extLst>
          </p:cNvPr>
          <p:cNvSpPr txBox="1"/>
          <p:nvPr/>
        </p:nvSpPr>
        <p:spPr>
          <a:xfrm>
            <a:off x="7147985" y="5841527"/>
            <a:ext cx="44285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ru-RU" dirty="0">
                <a:solidFill>
                  <a:srgbClr val="9C96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Обновленный интерфейс оператора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4696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2869</TotalTime>
  <Words>930</Words>
  <Application>Microsoft Macintosh PowerPoint</Application>
  <PresentationFormat>Широкоэкранный</PresentationFormat>
  <Paragraphs>104</Paragraphs>
  <Slides>7</Slides>
  <Notes>7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Интеллектуальная робототехника</dc:title>
  <dc:subject>PptxGenJS Presentation</dc:subject>
  <dc:creator>PptxGenJS</dc:creator>
  <cp:lastModifiedBy>t88353</cp:lastModifiedBy>
  <cp:revision>6</cp:revision>
  <dcterms:created xsi:type="dcterms:W3CDTF">2026-08-28T19:03:40Z</dcterms:created>
  <dcterms:modified xsi:type="dcterms:W3CDTF">2026-08-31T07:10:53Z</dcterms:modified>
</cp:coreProperties>
</file>